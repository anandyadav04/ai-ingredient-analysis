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29260800" cy="16459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1613" y="-6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 Yadav" userId="984e3259899b2000" providerId="LiveId" clId="{F726B6FB-F751-49E8-A87A-791B03BC3432}"/>
    <pc:docChg chg="modSld">
      <pc:chgData name="Anand Yadav" userId="984e3259899b2000" providerId="LiveId" clId="{F726B6FB-F751-49E8-A87A-791B03BC3432}" dt="2026-02-15T04:41:32.248" v="0" actId="1076"/>
      <pc:docMkLst>
        <pc:docMk/>
      </pc:docMkLst>
      <pc:sldChg chg="modSp mod">
        <pc:chgData name="Anand Yadav" userId="984e3259899b2000" providerId="LiveId" clId="{F726B6FB-F751-49E8-A87A-791B03BC3432}" dt="2026-02-15T04:41:32.248" v="0" actId="1076"/>
        <pc:sldMkLst>
          <pc:docMk/>
          <pc:sldMk cId="0" sldId="256"/>
        </pc:sldMkLst>
        <pc:spChg chg="mod">
          <ac:chgData name="Anand Yadav" userId="984e3259899b2000" providerId="LiveId" clId="{F726B6FB-F751-49E8-A87A-791B03BC3432}" dt="2026-02-15T04:41:32.248" v="0" actId="1076"/>
          <ac:spMkLst>
            <pc:docMk/>
            <pc:sldMk cId="0" sldId="256"/>
            <ac:spMk id="1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9260800" cy="27432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
            <a:ext cx="18288000" cy="1371600"/>
          </a:xfrm>
          <a:prstGeom prst="rect">
            <a:avLst/>
          </a:prstGeom>
          <a:noFill/>
        </p:spPr>
        <p:txBody>
          <a:bodyPr wrap="none">
            <a:spAutoFit/>
          </a:bodyPr>
          <a:lstStyle/>
          <a:p>
            <a:pPr>
              <a:defRPr sz="6000" b="1">
                <a:solidFill>
                  <a:srgbClr val="FFFFFF"/>
                </a:solidFill>
              </a:defRPr>
            </a:pPr>
            <a:r>
              <a:t>RiskRead: AI-Powered Ingredient Safety Analyzer</a:t>
            </a:r>
          </a:p>
        </p:txBody>
      </p:sp>
      <p:sp>
        <p:nvSpPr>
          <p:cNvPr id="4" name="TextBox 3"/>
          <p:cNvSpPr txBox="1"/>
          <p:nvPr/>
        </p:nvSpPr>
        <p:spPr>
          <a:xfrm>
            <a:off x="20116800" y="457200"/>
            <a:ext cx="8229600" cy="1828800"/>
          </a:xfrm>
          <a:prstGeom prst="rect">
            <a:avLst/>
          </a:prstGeom>
          <a:noFill/>
        </p:spPr>
        <p:txBody>
          <a:bodyPr wrap="none">
            <a:spAutoFit/>
          </a:bodyPr>
          <a:lstStyle/>
          <a:p>
            <a:endParaRPr/>
          </a:p>
          <a:p>
            <a:pPr algn="r">
              <a:defRPr sz="2400">
                <a:solidFill>
                  <a:srgbClr val="FFFFFF"/>
                </a:solidFill>
              </a:defRPr>
            </a:pPr>
            <a:r>
              <a:t>Group No.: [INSERT GROUP NO]</a:t>
            </a:r>
          </a:p>
          <a:p>
            <a:pPr algn="r">
              <a:defRPr sz="2400">
                <a:solidFill>
                  <a:srgbClr val="FFFFFF"/>
                </a:solidFill>
              </a:defRPr>
            </a:pPr>
            <a:r>
              <a:t>Group Members: [INSERT MEMBER NAMES]</a:t>
            </a:r>
          </a:p>
          <a:p>
            <a:pPr algn="r">
              <a:defRPr sz="2400">
                <a:solidFill>
                  <a:srgbClr val="FFFFFF"/>
                </a:solidFill>
              </a:defRPr>
            </a:pPr>
            <a:r>
              <a:t>Guide: [INSERT GUIDE NAME]</a:t>
            </a:r>
          </a:p>
        </p:txBody>
      </p:sp>
      <p:sp>
        <p:nvSpPr>
          <p:cNvPr id="5" name="Rectangle 4"/>
          <p:cNvSpPr/>
          <p:nvPr/>
        </p:nvSpPr>
        <p:spPr>
          <a:xfrm>
            <a:off x="914400" y="320040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INTRODUCTION</a:t>
            </a:r>
          </a:p>
        </p:txBody>
      </p:sp>
      <p:sp>
        <p:nvSpPr>
          <p:cNvPr id="6" name="TextBox 5"/>
          <p:cNvSpPr txBox="1"/>
          <p:nvPr/>
        </p:nvSpPr>
        <p:spPr>
          <a:xfrm>
            <a:off x="914400" y="3931920"/>
            <a:ext cx="8686800" cy="2743200"/>
          </a:xfrm>
          <a:prstGeom prst="rect">
            <a:avLst/>
          </a:prstGeom>
          <a:noFill/>
        </p:spPr>
        <p:txBody>
          <a:bodyPr wrap="square">
            <a:spAutoFit/>
          </a:bodyPr>
          <a:lstStyle/>
          <a:p>
            <a:pPr algn="l">
              <a:defRPr sz="2400" b="0">
                <a:solidFill>
                  <a:srgbClr val="0F172A"/>
                </a:solidFill>
                <a:latin typeface="Calibri"/>
              </a:defRPr>
            </a:pPr>
            <a:r>
              <a:t>Reading food and cosmetic labels is challenging due to complex chemical names and small print. 'RiskRead' is an intelligent web application that simplifies this process. By leveraging Optical Character Recognition (OCR) and Machine Learning (ML), it scans product labels, extracts ingredient lists, and instantly analyzes them for potential health risks, allergens, and nutritional concerns.</a:t>
            </a:r>
          </a:p>
        </p:txBody>
      </p:sp>
      <p:sp>
        <p:nvSpPr>
          <p:cNvPr id="7" name="Rectangle 6"/>
          <p:cNvSpPr/>
          <p:nvPr/>
        </p:nvSpPr>
        <p:spPr>
          <a:xfrm>
            <a:off x="914400" y="713232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PROBLEM DEFINITION</a:t>
            </a:r>
          </a:p>
        </p:txBody>
      </p:sp>
      <p:sp>
        <p:nvSpPr>
          <p:cNvPr id="8" name="TextBox 7"/>
          <p:cNvSpPr txBox="1"/>
          <p:nvPr/>
        </p:nvSpPr>
        <p:spPr>
          <a:xfrm>
            <a:off x="914400" y="7863840"/>
            <a:ext cx="8686800" cy="2286000"/>
          </a:xfrm>
          <a:prstGeom prst="rect">
            <a:avLst/>
          </a:prstGeom>
          <a:noFill/>
        </p:spPr>
        <p:txBody>
          <a:bodyPr wrap="square">
            <a:spAutoFit/>
          </a:bodyPr>
          <a:lstStyle/>
          <a:p>
            <a:pPr algn="l">
              <a:defRPr sz="2400" b="0">
                <a:solidFill>
                  <a:srgbClr val="0F172A"/>
                </a:solidFill>
                <a:latin typeface="Calibri"/>
              </a:defRPr>
            </a:pPr>
            <a:r>
              <a:t>• Consumers lack knowledge about complex chemical ingredients.</a:t>
            </a:r>
            <a:br/>
            <a:r>
              <a:t>• Manual checking of each ingredient is time-consuming and prone to error.</a:t>
            </a:r>
            <a:br/>
            <a:r>
              <a:t>• Static databases often lack context or are difficult to search instantly.</a:t>
            </a:r>
            <a:br/>
            <a:r>
              <a:t>• Existing solutions often lack specific localized product data.</a:t>
            </a:r>
          </a:p>
        </p:txBody>
      </p:sp>
      <p:sp>
        <p:nvSpPr>
          <p:cNvPr id="9" name="Rectangle 8"/>
          <p:cNvSpPr/>
          <p:nvPr/>
        </p:nvSpPr>
        <p:spPr>
          <a:xfrm>
            <a:off x="914400" y="1060704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OBJECTIVES</a:t>
            </a:r>
          </a:p>
        </p:txBody>
      </p:sp>
      <p:sp>
        <p:nvSpPr>
          <p:cNvPr id="10" name="TextBox 9"/>
          <p:cNvSpPr txBox="1"/>
          <p:nvPr/>
        </p:nvSpPr>
        <p:spPr>
          <a:xfrm>
            <a:off x="914400" y="11338560"/>
            <a:ext cx="8686800" cy="2286000"/>
          </a:xfrm>
          <a:prstGeom prst="rect">
            <a:avLst/>
          </a:prstGeom>
          <a:noFill/>
        </p:spPr>
        <p:txBody>
          <a:bodyPr wrap="square">
            <a:spAutoFit/>
          </a:bodyPr>
          <a:lstStyle/>
          <a:p>
            <a:pPr algn="l">
              <a:defRPr sz="2400" b="0">
                <a:solidFill>
                  <a:srgbClr val="0F172A"/>
                </a:solidFill>
                <a:latin typeface="Calibri"/>
              </a:defRPr>
            </a:pPr>
            <a:r>
              <a:t>• Develop an automated system to extract text from product label images.</a:t>
            </a:r>
            <a:br/>
            <a:r>
              <a:t>• Classify ingredients into 'Safe', 'Controversial', or 'Harmful'.</a:t>
            </a:r>
            <a:br/>
            <a:r>
              <a:t>• Provide a user-friendly web interface for instant analysis.</a:t>
            </a:r>
            <a:br/>
            <a:r>
              <a:t>• Educate users about the health impact of what they consume.</a:t>
            </a:r>
          </a:p>
        </p:txBody>
      </p:sp>
      <p:sp>
        <p:nvSpPr>
          <p:cNvPr id="11" name="Rectangle 10"/>
          <p:cNvSpPr/>
          <p:nvPr/>
        </p:nvSpPr>
        <p:spPr>
          <a:xfrm>
            <a:off x="914400" y="1408176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SCOPE</a:t>
            </a:r>
          </a:p>
        </p:txBody>
      </p:sp>
      <p:sp>
        <p:nvSpPr>
          <p:cNvPr id="12" name="TextBox 11"/>
          <p:cNvSpPr txBox="1"/>
          <p:nvPr/>
        </p:nvSpPr>
        <p:spPr>
          <a:xfrm>
            <a:off x="914400" y="14813280"/>
            <a:ext cx="8686800" cy="2286000"/>
          </a:xfrm>
          <a:prstGeom prst="rect">
            <a:avLst/>
          </a:prstGeom>
          <a:noFill/>
        </p:spPr>
        <p:txBody>
          <a:bodyPr wrap="square">
            <a:spAutoFit/>
          </a:bodyPr>
          <a:lstStyle/>
          <a:p>
            <a:pPr algn="l">
              <a:defRPr sz="2400" b="0">
                <a:solidFill>
                  <a:srgbClr val="0F172A"/>
                </a:solidFill>
                <a:latin typeface="Calibri"/>
              </a:defRPr>
            </a:pPr>
            <a:r>
              <a:t>• Input: Text, Image Upload, or Pasted Screenshot.</a:t>
            </a:r>
            <a:br/>
            <a:r>
              <a:t>• Domain: Packaged Food and Cosmetic products.</a:t>
            </a:r>
            <a:br/>
            <a:r>
              <a:t>• Output: Classified list of ingredients with health safety ratings.</a:t>
            </a:r>
            <a:br/>
            <a:r>
              <a:t>• Platform: Web-based application accessible on desktop and mobile.</a:t>
            </a:r>
          </a:p>
        </p:txBody>
      </p:sp>
      <p:sp>
        <p:nvSpPr>
          <p:cNvPr id="13" name="Rectangle 12"/>
          <p:cNvSpPr/>
          <p:nvPr/>
        </p:nvSpPr>
        <p:spPr>
          <a:xfrm>
            <a:off x="10287000" y="320040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PROPOSED SYSTEM ARCHITECTURE</a:t>
            </a:r>
          </a:p>
        </p:txBody>
      </p:sp>
      <p:sp>
        <p:nvSpPr>
          <p:cNvPr id="14" name="Rectangle 13"/>
          <p:cNvSpPr/>
          <p:nvPr/>
        </p:nvSpPr>
        <p:spPr>
          <a:xfrm>
            <a:off x="10744200" y="4114800"/>
            <a:ext cx="7772400" cy="3657600"/>
          </a:xfrm>
          <a:prstGeom prst="rect">
            <a:avLst/>
          </a:prstGeom>
          <a:solidFill>
            <a:srgbClr val="DCDCDC"/>
          </a:solidFill>
        </p:spPr>
        <p:style>
          <a:lnRef idx="1">
            <a:schemeClr val="accent1"/>
          </a:lnRef>
          <a:fillRef idx="3">
            <a:schemeClr val="accent1"/>
          </a:fillRef>
          <a:effectRef idx="2">
            <a:schemeClr val="accent1"/>
          </a:effectRef>
          <a:fontRef idx="minor">
            <a:schemeClr val="lt1"/>
          </a:fontRef>
        </p:style>
        <p:txBody>
          <a:bodyPr rtlCol="0" anchor="ctr"/>
          <a:lstStyle/>
          <a:p>
            <a:r>
              <a:rPr dirty="0"/>
              <a:t>[PLACEHOLDER: Insert System Architecture Diagram Here]</a:t>
            </a:r>
          </a:p>
          <a:p>
            <a:r>
              <a:rPr dirty="0"/>
              <a:t>(User -&gt; Web Interface -&gt; Flask Request -&gt; Preprocessing -&gt; OCR -&gt; NLP -&gt; Classifier -&gt; Response)</a:t>
            </a:r>
          </a:p>
        </p:txBody>
      </p:sp>
      <p:sp>
        <p:nvSpPr>
          <p:cNvPr id="15" name="Rectangle 14"/>
          <p:cNvSpPr/>
          <p:nvPr/>
        </p:nvSpPr>
        <p:spPr>
          <a:xfrm>
            <a:off x="10287000" y="850392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TECHNOLOGY STACK</a:t>
            </a:r>
          </a:p>
        </p:txBody>
      </p:sp>
      <p:sp>
        <p:nvSpPr>
          <p:cNvPr id="16" name="TextBox 15"/>
          <p:cNvSpPr txBox="1"/>
          <p:nvPr/>
        </p:nvSpPr>
        <p:spPr>
          <a:xfrm>
            <a:off x="10287000" y="9235440"/>
            <a:ext cx="8686800" cy="4114800"/>
          </a:xfrm>
          <a:prstGeom prst="rect">
            <a:avLst/>
          </a:prstGeom>
          <a:noFill/>
        </p:spPr>
        <p:txBody>
          <a:bodyPr wrap="square">
            <a:spAutoFit/>
          </a:bodyPr>
          <a:lstStyle/>
          <a:p>
            <a:pPr algn="l">
              <a:defRPr sz="2400" b="0">
                <a:solidFill>
                  <a:srgbClr val="0F172A"/>
                </a:solidFill>
                <a:latin typeface="Calibri"/>
              </a:defRPr>
            </a:pPr>
            <a:r>
              <a:t>Frontend:</a:t>
            </a:r>
            <a:br/>
            <a:r>
              <a:t>• HTML5, CSS3 (Custom Responsive Design)</a:t>
            </a:r>
            <a:br/>
            <a:r>
              <a:t>• JavaScript (Dynamic interactions, AJAX)</a:t>
            </a:r>
            <a:br/>
            <a:br/>
            <a:r>
              <a:t>Backend:</a:t>
            </a:r>
            <a:br/>
            <a:r>
              <a:t>• Python (Core Logic)</a:t>
            </a:r>
            <a:br/>
            <a:r>
              <a:t>• Flask (Web Framework)</a:t>
            </a:r>
            <a:br/>
            <a:br/>
            <a:r>
              <a:t>Machine Learning &amp; OCR:</a:t>
            </a:r>
            <a:br/>
            <a:r>
              <a:t>• Tesseract OCR (Text Extraction)</a:t>
            </a:r>
            <a:br/>
            <a:r>
              <a:t>• OpenCV (Image Preprocessing)</a:t>
            </a:r>
            <a:br/>
            <a:r>
              <a:t>• Scikit-Learn (Classification Models)</a:t>
            </a:r>
            <a:br/>
            <a:r>
              <a:t>• NLTK/Pandas (Data Processing)</a:t>
            </a:r>
          </a:p>
        </p:txBody>
      </p:sp>
      <p:sp>
        <p:nvSpPr>
          <p:cNvPr id="17" name="Rectangle 16"/>
          <p:cNvSpPr/>
          <p:nvPr/>
        </p:nvSpPr>
        <p:spPr>
          <a:xfrm>
            <a:off x="10287000" y="13963119"/>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SDG MAPPING</a:t>
            </a:r>
          </a:p>
        </p:txBody>
      </p:sp>
      <p:sp>
        <p:nvSpPr>
          <p:cNvPr id="18" name="TextBox 17"/>
          <p:cNvSpPr txBox="1"/>
          <p:nvPr/>
        </p:nvSpPr>
        <p:spPr>
          <a:xfrm>
            <a:off x="10287000" y="14538960"/>
            <a:ext cx="8686800" cy="2286000"/>
          </a:xfrm>
          <a:prstGeom prst="rect">
            <a:avLst/>
          </a:prstGeom>
          <a:noFill/>
        </p:spPr>
        <p:txBody>
          <a:bodyPr wrap="square">
            <a:spAutoFit/>
          </a:bodyPr>
          <a:lstStyle/>
          <a:p>
            <a:pPr algn="l">
              <a:defRPr sz="2400" b="0">
                <a:solidFill>
                  <a:srgbClr val="0F172A"/>
                </a:solidFill>
                <a:latin typeface="Calibri"/>
              </a:defRPr>
            </a:pPr>
            <a:r>
              <a:t>• SDG 3: Good Health and Well-being</a:t>
            </a:r>
            <a:br/>
            <a:r>
              <a:t>  (Promoting awareness of healthy consumption)</a:t>
            </a:r>
            <a:br/>
            <a:br/>
            <a:r>
              <a:t>• SDG 12: Responsible Consumption</a:t>
            </a:r>
            <a:br/>
            <a:r>
              <a:t>  (Empowering consumers to check product transparency)</a:t>
            </a:r>
          </a:p>
        </p:txBody>
      </p:sp>
      <p:sp>
        <p:nvSpPr>
          <p:cNvPr id="19" name="Rectangle 18"/>
          <p:cNvSpPr/>
          <p:nvPr/>
        </p:nvSpPr>
        <p:spPr>
          <a:xfrm>
            <a:off x="19659600" y="320040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KEY FEATURES</a:t>
            </a:r>
          </a:p>
        </p:txBody>
      </p:sp>
      <p:sp>
        <p:nvSpPr>
          <p:cNvPr id="20" name="TextBox 19"/>
          <p:cNvSpPr txBox="1"/>
          <p:nvPr/>
        </p:nvSpPr>
        <p:spPr>
          <a:xfrm>
            <a:off x="19659600" y="3931920"/>
            <a:ext cx="8686800" cy="3657600"/>
          </a:xfrm>
          <a:prstGeom prst="rect">
            <a:avLst/>
          </a:prstGeom>
          <a:noFill/>
        </p:spPr>
        <p:txBody>
          <a:bodyPr wrap="square">
            <a:spAutoFit/>
          </a:bodyPr>
          <a:lstStyle/>
          <a:p>
            <a:pPr algn="l">
              <a:defRPr sz="2400" b="0">
                <a:solidFill>
                  <a:srgbClr val="0F172A"/>
                </a:solidFill>
                <a:latin typeface="Calibri"/>
              </a:defRPr>
            </a:pPr>
            <a:r>
              <a:rPr dirty="0"/>
              <a:t>1. Multi-Modal Input: Supports file upload, text input, and clipboard pasting.</a:t>
            </a:r>
            <a:br>
              <a:rPr dirty="0"/>
            </a:br>
            <a:r>
              <a:rPr dirty="0"/>
              <a:t>2. Advanced Preprocessing: Auto-scaling and thresholding for cleaner OCR.</a:t>
            </a:r>
            <a:br>
              <a:rPr dirty="0"/>
            </a:br>
            <a:r>
              <a:rPr dirty="0"/>
              <a:t>3. Intelligent NLP: Cleans and parses complex ingredient strings; handles 'contains' warnings.</a:t>
            </a:r>
            <a:br>
              <a:rPr dirty="0"/>
            </a:br>
            <a:r>
              <a:rPr dirty="0"/>
              <a:t>4. ML Classification: Predicts safety (Safe/Controversial/Harmful) based on trained models.</a:t>
            </a:r>
            <a:br>
              <a:rPr dirty="0"/>
            </a:br>
            <a:r>
              <a:rPr dirty="0"/>
              <a:t>5. Visual Analytics: Dashboard with charts and statistics.</a:t>
            </a:r>
          </a:p>
        </p:txBody>
      </p:sp>
      <p:sp>
        <p:nvSpPr>
          <p:cNvPr id="21" name="Rectangle 20"/>
          <p:cNvSpPr/>
          <p:nvPr/>
        </p:nvSpPr>
        <p:spPr>
          <a:xfrm>
            <a:off x="19659600" y="804672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IMPLEMENTATION SCREENSHOTS</a:t>
            </a:r>
          </a:p>
        </p:txBody>
      </p:sp>
      <p:sp>
        <p:nvSpPr>
          <p:cNvPr id="22" name="Rectangle 21"/>
          <p:cNvSpPr/>
          <p:nvPr/>
        </p:nvSpPr>
        <p:spPr>
          <a:xfrm>
            <a:off x="20116800" y="8961120"/>
            <a:ext cx="7772400" cy="3657600"/>
          </a:xfrm>
          <a:prstGeom prst="rect">
            <a:avLst/>
          </a:prstGeom>
          <a:solidFill>
            <a:srgbClr val="DCDCDC"/>
          </a:solidFill>
        </p:spPr>
        <p:style>
          <a:lnRef idx="1">
            <a:schemeClr val="accent1"/>
          </a:lnRef>
          <a:fillRef idx="3">
            <a:schemeClr val="accent1"/>
          </a:fillRef>
          <a:effectRef idx="2">
            <a:schemeClr val="accent1"/>
          </a:effectRef>
          <a:fontRef idx="minor">
            <a:schemeClr val="lt1"/>
          </a:fontRef>
        </p:style>
        <p:txBody>
          <a:bodyPr rtlCol="0" anchor="ctr"/>
          <a:lstStyle/>
          <a:p>
            <a:r>
              <a:t>[PLACEHOLDER: Insert Screenshot of Result Page Here]</a:t>
            </a:r>
          </a:p>
        </p:txBody>
      </p:sp>
      <p:sp>
        <p:nvSpPr>
          <p:cNvPr id="23" name="Rectangle 22"/>
          <p:cNvSpPr/>
          <p:nvPr/>
        </p:nvSpPr>
        <p:spPr>
          <a:xfrm>
            <a:off x="19659600" y="13350240"/>
            <a:ext cx="8686800" cy="731520"/>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REFERENCES</a:t>
            </a:r>
          </a:p>
        </p:txBody>
      </p:sp>
      <p:sp>
        <p:nvSpPr>
          <p:cNvPr id="24" name="TextBox 23"/>
          <p:cNvSpPr txBox="1"/>
          <p:nvPr/>
        </p:nvSpPr>
        <p:spPr>
          <a:xfrm>
            <a:off x="19659600" y="14081760"/>
            <a:ext cx="8686800" cy="2286000"/>
          </a:xfrm>
          <a:prstGeom prst="rect">
            <a:avLst/>
          </a:prstGeom>
          <a:noFill/>
        </p:spPr>
        <p:txBody>
          <a:bodyPr wrap="square">
            <a:spAutoFit/>
          </a:bodyPr>
          <a:lstStyle/>
          <a:p>
            <a:pPr algn="l">
              <a:defRPr sz="2000" b="0">
                <a:solidFill>
                  <a:srgbClr val="0F172A"/>
                </a:solidFill>
                <a:latin typeface="Calibri"/>
              </a:defRPr>
            </a:pPr>
            <a:r>
              <a:rPr dirty="0"/>
              <a:t>1. Flask Documentation: https://flask.palletsprojects.com/</a:t>
            </a:r>
            <a:br>
              <a:rPr dirty="0"/>
            </a:br>
            <a:r>
              <a:rPr dirty="0"/>
              <a:t>2. Tesseract OCR: https://github.com/tesseract-ocr/tesseract</a:t>
            </a:r>
            <a:br>
              <a:rPr dirty="0"/>
            </a:br>
            <a:r>
              <a:rPr dirty="0"/>
              <a:t>3. Scikit-learn: https://scikit-learn.org/</a:t>
            </a:r>
            <a:br>
              <a:rPr dirty="0"/>
            </a:br>
            <a:r>
              <a:rPr dirty="0"/>
              <a:t>4. </a:t>
            </a:r>
            <a:r>
              <a:rPr dirty="0" err="1"/>
              <a:t>Foodvisor</a:t>
            </a:r>
            <a:r>
              <a:rPr dirty="0"/>
              <a:t>-NYU Ingredient Dataset</a:t>
            </a:r>
          </a:p>
        </p:txBody>
      </p:sp>
      <p:sp>
        <p:nvSpPr>
          <p:cNvPr id="25" name="TextBox 24"/>
          <p:cNvSpPr txBox="1"/>
          <p:nvPr/>
        </p:nvSpPr>
        <p:spPr>
          <a:xfrm>
            <a:off x="0" y="16002000"/>
            <a:ext cx="29260800" cy="457200"/>
          </a:xfrm>
          <a:prstGeom prst="rect">
            <a:avLst/>
          </a:prstGeom>
          <a:noFill/>
        </p:spPr>
        <p:txBody>
          <a:bodyPr wrap="square">
            <a:spAutoFit/>
          </a:bodyPr>
          <a:lstStyle/>
          <a:p>
            <a:pPr algn="ctr">
              <a:defRPr sz="1800" b="0">
                <a:solidFill>
                  <a:srgbClr val="0F172A"/>
                </a:solidFill>
                <a:latin typeface="Calibri"/>
              </a:defRPr>
            </a:pPr>
            <a:r>
              <a:t>RiskRead Mini-Project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533</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Anand Yadav</cp:lastModifiedBy>
  <cp:revision>1</cp:revision>
  <dcterms:created xsi:type="dcterms:W3CDTF">2013-01-27T09:14:16Z</dcterms:created>
  <dcterms:modified xsi:type="dcterms:W3CDTF">2026-02-15T04:43:13Z</dcterms:modified>
  <cp:category/>
</cp:coreProperties>
</file>